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1675"/>
  <p:notesSz cx="6858000" cy="12191675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lsnOhv3KM5ztsPb48o6i2jO/l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Pl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08080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80A"/>
          </a:solidFill>
          <a:ln cap="flat" cmpd="sng" w="12700">
            <a:solidFill>
              <a:srgbClr val="0808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" name="Google Shape;13;p14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9525">
            <a:solidFill>
              <a:srgbClr val="3F3F46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" name="Google Shape;14;p14"/>
          <p:cNvSpPr/>
          <p:nvPr/>
        </p:nvSpPr>
        <p:spPr>
          <a:xfrm>
            <a:off x="548640" y="6537960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717A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rPr>
              <a:t>Expert Integrado — Mentoria Automações Inteligentes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4"/>
          <p:cNvSpPr txBox="1"/>
          <p:nvPr>
            <p:ph idx="12" type="sldNum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hyperlink" Target="https://areadoaluno.expertintegrado.com.br/app/courses/ee8a10e6-2dc7-45a2-b15d-217da3c1f379/lessons/a7aec617-563a-4fc0-af5f-49e2162f19d8" TargetMode="External"/><Relationship Id="rId10" Type="http://schemas.openxmlformats.org/officeDocument/2006/relationships/hyperlink" Target="https://areadoaluno.expertintegrado.com.br/app/courses/ee8a10e6-2dc7-45a2-b15d-217da3c1f379/lessons/ce098a23-feab-4ff7-803c-84afd715e701" TargetMode="External"/><Relationship Id="rId13" Type="http://schemas.openxmlformats.org/officeDocument/2006/relationships/hyperlink" Target="https://areadoaluno.expertintegrado.com.br/app/courses/220138cb-61b2-4015-90dc-2f05ba8d75b4/lessons/483b4d35-32bc-4e5c-87cc-9785fe13ea8d" TargetMode="External"/><Relationship Id="rId12" Type="http://schemas.openxmlformats.org/officeDocument/2006/relationships/hyperlink" Target="https://areadoaluno.expertintegrado.com.br/app/courses/ee8a10e6-2dc7-45a2-b15d-217da3c1f379/lessons/a7aec617-563a-4fc0-af5f-49e2162f19d8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readoaluno.expertintegrado.com.br/app/courses/370695b1-487b-45df-b9fc-07981f6b6e9f/lessons/df7f412a-bf34-4ff8-8186-70df43558a64" TargetMode="External"/><Relationship Id="rId4" Type="http://schemas.openxmlformats.org/officeDocument/2006/relationships/hyperlink" Target="https://areadoaluno.expertintegrado.com.br/app/courses/370695b1-487b-45df-b9fc-07981f6b6e9f/lessons/df7f412a-bf34-4ff8-8186-70df43558a64" TargetMode="External"/><Relationship Id="rId9" Type="http://schemas.openxmlformats.org/officeDocument/2006/relationships/hyperlink" Target="https://areadoaluno.expertintegrado.com.br/app/courses/ee8a10e6-2dc7-45a2-b15d-217da3c1f379/lessons/ce098a23-feab-4ff7-803c-84afd715e701" TargetMode="External"/><Relationship Id="rId15" Type="http://schemas.openxmlformats.org/officeDocument/2006/relationships/hyperlink" Target="https://areadoaluno.expertintegrado.com.br/app/courses/220138cb-61b2-4015-90dc-2f05ba8d75b4/lessons/4e3b3d13-86f3-47a7-9352-5c57ba10b447" TargetMode="External"/><Relationship Id="rId14" Type="http://schemas.openxmlformats.org/officeDocument/2006/relationships/hyperlink" Target="https://areadoaluno.expertintegrado.com.br/app/courses/220138cb-61b2-4015-90dc-2f05ba8d75b4/lessons/483b4d35-32bc-4e5c-87cc-9785fe13ea8d" TargetMode="External"/><Relationship Id="rId17" Type="http://schemas.openxmlformats.org/officeDocument/2006/relationships/hyperlink" Target="https://areadoaluno.expertintegrado.com.br/app/courses/370695b1-487b-45df-b9fc-07981f6b6e9f/lessons/1047a29c-f925-4857-b916-bd7d1aa7e42f" TargetMode="External"/><Relationship Id="rId16" Type="http://schemas.openxmlformats.org/officeDocument/2006/relationships/hyperlink" Target="https://areadoaluno.expertintegrado.com.br/app/courses/220138cb-61b2-4015-90dc-2f05ba8d75b4/lessons/4e3b3d13-86f3-47a7-9352-5c57ba10b447" TargetMode="External"/><Relationship Id="rId5" Type="http://schemas.openxmlformats.org/officeDocument/2006/relationships/hyperlink" Target="https://areadoaluno.expertintegrado.com.br/app/courses/220138cb-61b2-4015-90dc-2f05ba8d75b4/lessons/4ca23128-aa63-4e11-b9de-68183b58bb39" TargetMode="External"/><Relationship Id="rId6" Type="http://schemas.openxmlformats.org/officeDocument/2006/relationships/hyperlink" Target="https://areadoaluno.expertintegrado.com.br/app/courses/220138cb-61b2-4015-90dc-2f05ba8d75b4/lessons/4ca23128-aa63-4e11-b9de-68183b58bb39" TargetMode="External"/><Relationship Id="rId18" Type="http://schemas.openxmlformats.org/officeDocument/2006/relationships/hyperlink" Target="https://areadoaluno.expertintegrado.com.br/app/courses/370695b1-487b-45df-b9fc-07981f6b6e9f/lessons/1047a29c-f925-4857-b916-bd7d1aa7e42f" TargetMode="External"/><Relationship Id="rId7" Type="http://schemas.openxmlformats.org/officeDocument/2006/relationships/hyperlink" Target="https://areadoaluno.expertintegrado.com.br/app/courses/ee8a10e6-2dc7-45a2-b15d-217da3c1f379/lessons/0b406f84-f0ab-4fa5-a2e2-3f8e249cf0c0" TargetMode="External"/><Relationship Id="rId8" Type="http://schemas.openxmlformats.org/officeDocument/2006/relationships/hyperlink" Target="https://areadoaluno.expertintegrado.com.br/app/courses/ee8a10e6-2dc7-45a2-b15d-217da3c1f379/lessons/0b406f84-f0ab-4fa5-a2e2-3f8e249cf0c0" TargetMode="External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hyperlink" Target="https://areadoaluno.expertintegrado.com.br/app/courses/2f24f820-a933-4cc6-beae-c6c7bc24020e/lessons/d5fdde6c-e2fb-48fb-9824-b082deff9095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readoaluno.expertintegrado.com.br/app/courses/460ff147-77dd-447a-a12e-95949424ef45/lessons/e82a9435-af08-46ee-881c-e7ed145d9c29" TargetMode="External"/><Relationship Id="rId4" Type="http://schemas.openxmlformats.org/officeDocument/2006/relationships/hyperlink" Target="https://areadoaluno.expertintegrado.com.br/app/courses/460ff147-77dd-447a-a12e-95949424ef45/lessons/e82a9435-af08-46ee-881c-e7ed145d9c29" TargetMode="External"/><Relationship Id="rId9" Type="http://schemas.openxmlformats.org/officeDocument/2006/relationships/hyperlink" Target="https://areadoaluno.expertintegrado.com.br/app/courses/2f24f820-a933-4cc6-beae-c6c7bc24020e/lessons/d5fdde6c-e2fb-48fb-9824-b082deff9095" TargetMode="External"/><Relationship Id="rId5" Type="http://schemas.openxmlformats.org/officeDocument/2006/relationships/hyperlink" Target="https://areadoaluno.expertintegrado.com.br/app/courses/460ff147-77dd-447a-a12e-95949424ef45/lessons/71b3b7e1-1ff0-46d4-b4f9-8e7d53fe18b4" TargetMode="External"/><Relationship Id="rId6" Type="http://schemas.openxmlformats.org/officeDocument/2006/relationships/hyperlink" Target="https://areadoaluno.expertintegrado.com.br/app/courses/460ff147-77dd-447a-a12e-95949424ef45/lessons/71b3b7e1-1ff0-46d4-b4f9-8e7d53fe18b4" TargetMode="External"/><Relationship Id="rId7" Type="http://schemas.openxmlformats.org/officeDocument/2006/relationships/hyperlink" Target="https://areadoaluno.expertintegrado.com.br/app/courses/2f24f820-a933-4cc6-beae-c6c7bc24020e/lessons/c7284667-7438-4048-8911-909aadc4d83a" TargetMode="External"/><Relationship Id="rId8" Type="http://schemas.openxmlformats.org/officeDocument/2006/relationships/hyperlink" Target="https://areadoaluno.expertintegrado.com.br/app/courses/2f24f820-a933-4cc6-beae-c6c7bc24020e/lessons/c7284667-7438-4048-8911-909aadc4d83a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readoaluno.expertintegrado.com.br/app/plugins" TargetMode="External"/><Relationship Id="rId4" Type="http://schemas.openxmlformats.org/officeDocument/2006/relationships/hyperlink" Target="https://areadoaluno.expertintegrado.com.br/app/plugins" TargetMode="External"/><Relationship Id="rId5" Type="http://schemas.openxmlformats.org/officeDocument/2006/relationships/hyperlink" Target="https://areadoaluno.expertintegrado.com.br/app/lovable-catalog" TargetMode="External"/><Relationship Id="rId6" Type="http://schemas.openxmlformats.org/officeDocument/2006/relationships/hyperlink" Target="https://areadoaluno.expertintegrado.com.br/app/lovable-catalog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80A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/>
          <p:nvPr/>
        </p:nvSpPr>
        <p:spPr>
          <a:xfrm>
            <a:off x="768096" y="65836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46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3F3F46"/>
                </a:solidFill>
                <a:latin typeface="Arial"/>
                <a:ea typeface="Arial"/>
                <a:cs typeface="Arial"/>
                <a:sym typeface="Arial"/>
              </a:rPr>
              <a:t>EXPERT INTEGRADO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13232" y="1901952"/>
            <a:ext cx="67665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800"/>
              <a:buFont typeface="Play"/>
              <a:buNone/>
            </a:pPr>
            <a:r>
              <a:rPr b="1" i="0" lang="en-US" sz="41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Plano de ação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800"/>
              <a:buFont typeface="Play"/>
              <a:buNone/>
            </a:pPr>
            <a:r>
              <a:rPr b="1" i="0" lang="en-US" sz="41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Marcelo Coelho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4;p1"/>
          <p:cNvCxnSpPr/>
          <p:nvPr/>
        </p:nvCxnSpPr>
        <p:spPr>
          <a:xfrm>
            <a:off x="768096" y="3730752"/>
            <a:ext cx="1143000" cy="0"/>
          </a:xfrm>
          <a:prstGeom prst="straightConnector1">
            <a:avLst/>
          </a:prstGeom>
          <a:noFill/>
          <a:ln cap="flat" cmpd="sng" w="317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1"/>
          <p:cNvSpPr/>
          <p:nvPr/>
        </p:nvSpPr>
        <p:spPr>
          <a:xfrm>
            <a:off x="768096" y="4069080"/>
            <a:ext cx="5852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1400"/>
              <a:buFont typeface="Arial"/>
              <a:buNone/>
            </a:pPr>
            <a:r>
              <a:rPr b="0" i="0" lang="en-US" sz="170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Coelho Music Produções LTDA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1400"/>
              <a:buFont typeface="Arial"/>
              <a:buNone/>
            </a:pPr>
            <a:r>
              <a:rPr b="0" i="0" lang="en-US" sz="170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Mentoria Automações Inteligentes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452360" y="452628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700"/>
              <a:buFont typeface="Play"/>
              <a:buNone/>
            </a:pPr>
            <a:r>
              <a:rPr b="1" i="0" lang="en-US" sz="1700" u="none" cap="none" strike="noStrike">
                <a:solidFill>
                  <a:srgbClr val="06B6D4"/>
                </a:solidFill>
                <a:latin typeface="Play"/>
                <a:ea typeface="Play"/>
                <a:cs typeface="Play"/>
                <a:sym typeface="Play"/>
              </a:rPr>
              <a:t>Dashboard pedagógico primeiro.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700"/>
              <a:buFont typeface="Play"/>
              <a:buNone/>
            </a:pPr>
            <a:r>
              <a:rPr b="1" i="0" lang="en-US" sz="1700" u="none" cap="none" strike="noStrike">
                <a:solidFill>
                  <a:srgbClr val="06B6D4"/>
                </a:solidFill>
                <a:latin typeface="Play"/>
                <a:ea typeface="Play"/>
                <a:cs typeface="Play"/>
                <a:sym typeface="Play"/>
              </a:rPr>
              <a:t>Comercial e conteúdo em sequência.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 txBox="1"/>
          <p:nvPr>
            <p:ph idx="4294967295" type="sldNum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71717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PLANO DE AÇÃO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21792" y="713232"/>
            <a:ext cx="8778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O que entendemos do negócio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" name="Google Shape;35;p2"/>
          <p:cNvCxnSpPr/>
          <p:nvPr/>
        </p:nvCxnSpPr>
        <p:spPr>
          <a:xfrm>
            <a:off x="658368" y="1444752"/>
            <a:ext cx="1097280" cy="0"/>
          </a:xfrm>
          <a:prstGeom prst="straightConnector1">
            <a:avLst/>
          </a:prstGeom>
          <a:noFill/>
          <a:ln cap="flat" cmpd="sng" w="254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2"/>
          <p:cNvSpPr/>
          <p:nvPr/>
        </p:nvSpPr>
        <p:spPr>
          <a:xfrm>
            <a:off x="822949" y="1828800"/>
            <a:ext cx="152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778"/>
              <a:buFont typeface="Arial"/>
              <a:buNone/>
            </a:pPr>
            <a:r>
              <a:rPr b="0" i="0" lang="en-US" sz="1378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37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159822" y="1772875"/>
            <a:ext cx="61995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778"/>
              <a:buFont typeface="Arial"/>
              <a:buNone/>
            </a:pPr>
            <a:r>
              <a:rPr b="0" i="0" lang="en-US" sz="1378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Jazz Corporativo: palestra sobre criatividade, cultura, colaboração e improviso.</a:t>
            </a:r>
            <a:endParaRPr b="0" i="0" sz="137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22949" y="2296311"/>
            <a:ext cx="152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778"/>
              <a:buFont typeface="Arial"/>
              <a:buNone/>
            </a:pPr>
            <a:r>
              <a:rPr b="0" i="0" lang="en-US" sz="1378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37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159822" y="2268348"/>
            <a:ext cx="61995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778"/>
              <a:buFont typeface="Arial"/>
              <a:buNone/>
            </a:pPr>
            <a:r>
              <a:rPr b="0" i="0" lang="en-US" sz="1378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Workshop de criatividade: experiência formativa para empresas, escolas e lideranças.</a:t>
            </a:r>
            <a:endParaRPr b="0" i="0" sz="137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22949" y="2763822"/>
            <a:ext cx="152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778"/>
              <a:buFont typeface="Arial"/>
              <a:buNone/>
            </a:pPr>
            <a:r>
              <a:rPr b="0" i="0" lang="en-US" sz="1378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37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159822" y="2763822"/>
            <a:ext cx="61995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778"/>
              <a:buFont typeface="Arial"/>
              <a:buNone/>
            </a:pPr>
            <a:r>
              <a:rPr b="0" i="0" lang="en-US" sz="1378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Startup educacional: formação integral e socioemocional por meio da música.</a:t>
            </a:r>
            <a:endParaRPr b="0" i="0" sz="1378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7543800" y="182880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8B5CF6"/>
                </a:solidFill>
                <a:latin typeface="Play"/>
                <a:ea typeface="Play"/>
                <a:cs typeface="Play"/>
                <a:sym typeface="Play"/>
              </a:rPr>
              <a:t>41h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543800" y="2395725"/>
            <a:ext cx="2316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1050"/>
              <a:buFont typeface="Arial"/>
              <a:buNone/>
            </a:pPr>
            <a:r>
              <a:rPr b="0" i="0" lang="en-US" sz="135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aprox. mapeadas em rotinas semanais com potencial de padronização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543800" y="320040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06B6D4"/>
                </a:solidFill>
                <a:latin typeface="Play"/>
                <a:ea typeface="Play"/>
                <a:cs typeface="Play"/>
                <a:sym typeface="Play"/>
              </a:rPr>
              <a:t>15h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543800" y="3767326"/>
            <a:ext cx="2316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1050"/>
              <a:buFont typeface="Arial"/>
              <a:buNone/>
            </a:pPr>
            <a:r>
              <a:rPr b="0" i="0" lang="en-US" sz="135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dedicadas à construção do dashboard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543800" y="457200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0B981"/>
                </a:solidFill>
                <a:latin typeface="Play"/>
                <a:ea typeface="Play"/>
                <a:cs typeface="Play"/>
                <a:sym typeface="Play"/>
              </a:rPr>
              <a:t>3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543800" y="5138926"/>
            <a:ext cx="2316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1050"/>
              <a:buFont typeface="Arial"/>
              <a:buNone/>
            </a:pPr>
            <a:r>
              <a:rPr b="0" i="0" lang="en-US" sz="135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frentes de negócio que precisam conversar entre si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 txBox="1"/>
          <p:nvPr>
            <p:ph idx="4294967295" type="sldNum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71717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PLANO DE AÇÃO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21792" y="713232"/>
            <a:ext cx="8778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Gargalo central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56;p3"/>
          <p:cNvCxnSpPr/>
          <p:nvPr/>
        </p:nvCxnSpPr>
        <p:spPr>
          <a:xfrm>
            <a:off x="658368" y="1444752"/>
            <a:ext cx="1097280" cy="0"/>
          </a:xfrm>
          <a:prstGeom prst="straightConnector1">
            <a:avLst/>
          </a:prstGeom>
          <a:noFill/>
          <a:ln cap="flat" cmpd="sng" w="254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3"/>
          <p:cNvSpPr/>
          <p:nvPr/>
        </p:nvSpPr>
        <p:spPr>
          <a:xfrm>
            <a:off x="822960" y="1645920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Font typeface="Play"/>
              <a:buNone/>
            </a:pPr>
            <a:r>
              <a:rPr b="1" i="0" lang="en-US" sz="21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O desafio não é falta de produto. É arquitetura de processos.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868680" y="2423160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1143000" y="2423160"/>
            <a:ext cx="9601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Construir e amadurecer o dashboard da startup educacional.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868680" y="295351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143000" y="2953512"/>
            <a:ext cx="9601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Organizar indicadores, relatórios e evidências de impacto para escolas.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868680" y="3483864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143000" y="3483864"/>
            <a:ext cx="9601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Automatizar tráfego, marketing e comercial para palestra e workshop.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868680" y="4014216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143000" y="4014216"/>
            <a:ext cx="9601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Padronizar o uso de IA para conteúdo, proposta, atendimento, relatório e gestão.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 txBox="1"/>
          <p:nvPr>
            <p:ph idx="4294967295" type="sldNum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71717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PLANO DE AÇÃO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621792" y="713232"/>
            <a:ext cx="8778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Por que o dashboard vem primeiro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" name="Google Shape;74;p4"/>
          <p:cNvCxnSpPr/>
          <p:nvPr/>
        </p:nvCxnSpPr>
        <p:spPr>
          <a:xfrm>
            <a:off x="658368" y="1444752"/>
            <a:ext cx="1097280" cy="0"/>
          </a:xfrm>
          <a:prstGeom prst="straightConnector1">
            <a:avLst/>
          </a:prstGeom>
          <a:noFill/>
          <a:ln cap="flat" cmpd="sng" w="254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4"/>
          <p:cNvSpPr/>
          <p:nvPr/>
        </p:nvSpPr>
        <p:spPr>
          <a:xfrm>
            <a:off x="822960" y="187452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Arial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822960" y="2176272"/>
            <a:ext cx="2478024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Play"/>
              <a:buNone/>
            </a:pPr>
            <a:r>
              <a:rPr b="1" i="0" lang="en-US" sz="15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Já está em andamento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822960" y="2587752"/>
            <a:ext cx="24780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950"/>
              <a:buFont typeface="Arial"/>
              <a:buNone/>
            </a:pPr>
            <a:r>
              <a:rPr b="0" i="0" lang="en-US" sz="125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Aproveita energia atual e reduz fricção de implementação.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502152" y="187452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Arial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3502152" y="2176272"/>
            <a:ext cx="2478024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Play"/>
              <a:buNone/>
            </a:pPr>
            <a:r>
              <a:rPr b="1" i="0" lang="en-US" sz="15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Maior carga semanal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502152" y="2587752"/>
            <a:ext cx="24780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950"/>
              <a:buFont typeface="Arial"/>
              <a:buNone/>
            </a:pPr>
            <a:r>
              <a:rPr b="0" i="0" lang="en-US" sz="125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É a frente com mais tempo mapeado no diagnóstico.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181344" y="187452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Arial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6181344" y="2176272"/>
            <a:ext cx="2478024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Play"/>
              <a:buNone/>
            </a:pPr>
            <a:r>
              <a:rPr b="1" i="0" lang="en-US" sz="15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Prova de valor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6181344" y="2587752"/>
            <a:ext cx="24780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950"/>
              <a:buFont typeface="Arial"/>
              <a:buNone/>
            </a:pPr>
            <a:r>
              <a:rPr b="0" i="0" lang="en-US" sz="125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Relatórios podem demonstrar impacto para escolas.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8860536" y="187452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Arial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8860536" y="2176272"/>
            <a:ext cx="2478024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Play"/>
              <a:buNone/>
            </a:pPr>
            <a:r>
              <a:rPr b="1" i="0" lang="en-US" sz="15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Base comercial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8860536" y="2587752"/>
            <a:ext cx="24780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950"/>
              <a:buFont typeface="Arial"/>
              <a:buNone/>
            </a:pPr>
            <a:r>
              <a:rPr b="0" i="0" lang="en-US" sz="125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Indicadores fortalecem proposta, conteúdo e narrativa.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868680" y="5166360"/>
            <a:ext cx="8961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06B6D4"/>
                </a:solidFill>
                <a:latin typeface="Play"/>
                <a:ea typeface="Play"/>
                <a:cs typeface="Play"/>
                <a:sym typeface="Play"/>
              </a:rPr>
              <a:t>Decisão de prioridade: começar pelo dashboard pedagógico da startup.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/>
          <p:nvPr>
            <p:ph idx="4294967295" type="sldNum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71717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PLANO DE AÇÃO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21792" y="713232"/>
            <a:ext cx="8778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Estrutura recomendada do dashboard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" name="Google Shape;96;p5"/>
          <p:cNvCxnSpPr/>
          <p:nvPr/>
        </p:nvCxnSpPr>
        <p:spPr>
          <a:xfrm>
            <a:off x="658368" y="1444752"/>
            <a:ext cx="1097280" cy="0"/>
          </a:xfrm>
          <a:prstGeom prst="straightConnector1">
            <a:avLst/>
          </a:prstGeom>
          <a:noFill/>
          <a:ln cap="flat" cmpd="sng" w="254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5"/>
          <p:cNvSpPr/>
          <p:nvPr/>
        </p:nvSpPr>
        <p:spPr>
          <a:xfrm>
            <a:off x="822960" y="1737360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1097280" y="1737360"/>
            <a:ext cx="9784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Partir de perguntas estratégicas, não de gráficos soltos.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822960" y="2249424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1097280" y="2249424"/>
            <a:ext cx="9784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Separar indicadores de engajamento, desenvolvimento, operação, satisfação, comercial e impacto.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822960" y="2761488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097280" y="2761488"/>
            <a:ext cx="9784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Conectar cada indicador a uma decisão ou a um trecho do relatório para escolas.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822960" y="327355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097280" y="3273552"/>
            <a:ext cx="9784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Começar simples: base de dados, KPIs mínimos e primeiras visualizações.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868680" y="4892040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Play"/>
                <a:ea typeface="Play"/>
                <a:cs typeface="Play"/>
                <a:sym typeface="Play"/>
              </a:rPr>
              <a:t>Pergunta-chave: que evidência ajuda a escola a perceber valor e continuar avançando?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 txBox="1"/>
          <p:nvPr>
            <p:ph idx="4294967295" type="sldNum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71717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PLANO DE AÇÃO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21792" y="713232"/>
            <a:ext cx="8778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Roadmap 7 / 30 / 60 / 90 dias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6"/>
          <p:cNvCxnSpPr/>
          <p:nvPr/>
        </p:nvCxnSpPr>
        <p:spPr>
          <a:xfrm>
            <a:off x="658368" y="1444752"/>
            <a:ext cx="1097280" cy="0"/>
          </a:xfrm>
          <a:prstGeom prst="straightConnector1">
            <a:avLst/>
          </a:prstGeom>
          <a:noFill/>
          <a:ln cap="flat" cmpd="sng" w="254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6"/>
          <p:cNvSpPr/>
          <p:nvPr/>
        </p:nvSpPr>
        <p:spPr>
          <a:xfrm>
            <a:off x="822950" y="1828800"/>
            <a:ext cx="3201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Arial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822950" y="2218000"/>
            <a:ext cx="24780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Play"/>
              <a:buNone/>
            </a:pPr>
            <a:r>
              <a:rPr b="1" i="0" lang="en-US" sz="17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7 dias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822950" y="2748728"/>
            <a:ext cx="24780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950"/>
              <a:buFont typeface="Arial"/>
              <a:buNone/>
            </a:pPr>
            <a:r>
              <a:rPr b="0" i="0" lang="en-US" sz="145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Diagnóstico no portal, primeira aula, recorrências e levantamento de dados.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3502142" y="1828800"/>
            <a:ext cx="3201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Arial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3502142" y="2218000"/>
            <a:ext cx="24780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Play"/>
              <a:buNone/>
            </a:pPr>
            <a:r>
              <a:rPr b="1" i="0" lang="en-US" sz="17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30 dias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3502142" y="2748728"/>
            <a:ext cx="24780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950"/>
              <a:buFont typeface="Arial"/>
              <a:buNone/>
            </a:pPr>
            <a:r>
              <a:rPr b="0" i="0" lang="en-US" sz="145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KPIs, fontes de dados, estrutura base e MVP do dashboard.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6181334" y="1828800"/>
            <a:ext cx="3201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Arial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181334" y="2218000"/>
            <a:ext cx="24780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Play"/>
              <a:buNone/>
            </a:pPr>
            <a:r>
              <a:rPr b="1" i="0" lang="en-US" sz="17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60 dias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181334" y="2748728"/>
            <a:ext cx="24780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950"/>
              <a:buFont typeface="Arial"/>
              <a:buNone/>
            </a:pPr>
            <a:r>
              <a:rPr b="0" i="0" lang="en-US" sz="145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Modelo de relatório para escolas e pipeline comercial básico.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8860526" y="1828800"/>
            <a:ext cx="3201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Arial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8860526" y="2218000"/>
            <a:ext cx="24780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Play"/>
              <a:buNone/>
            </a:pPr>
            <a:r>
              <a:rPr b="1" i="0" lang="en-US" sz="17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90 dias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8860526" y="2748728"/>
            <a:ext cx="24780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950"/>
              <a:buFont typeface="Arial"/>
              <a:buNone/>
            </a:pPr>
            <a:r>
              <a:rPr b="0" i="0" lang="en-US" sz="145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Automação de relatórios, rotinas de conteúdo e primeiros agentes.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 txBox="1"/>
          <p:nvPr>
            <p:ph idx="4294967295" type="sldNum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71717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PLANO DE AÇÃO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621792" y="713232"/>
            <a:ext cx="8778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Aulas para começar agora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" name="Google Shape;135;p7"/>
          <p:cNvCxnSpPr/>
          <p:nvPr/>
        </p:nvCxnSpPr>
        <p:spPr>
          <a:xfrm>
            <a:off x="658368" y="1444752"/>
            <a:ext cx="1097280" cy="0"/>
          </a:xfrm>
          <a:prstGeom prst="straightConnector1">
            <a:avLst/>
          </a:prstGeom>
          <a:noFill/>
          <a:ln cap="flat" cmpd="sng" w="254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7"/>
          <p:cNvSpPr/>
          <p:nvPr/>
        </p:nvSpPr>
        <p:spPr>
          <a:xfrm>
            <a:off x="777240" y="1783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Arial"/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1280160" y="1764792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Projetos para relatórios, planilhas e materiais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1280160" y="2011680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850"/>
              <a:buFont typeface="Arial"/>
              <a:buNone/>
            </a:pPr>
            <a:r>
              <a:rPr b="0" i="0" lang="en-US" sz="115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Dashboard, relatórios e materiais de acompanhamento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>
            <a:hlinkClick r:id="rId3"/>
          </p:cNvPr>
          <p:cNvSpPr/>
          <p:nvPr/>
        </p:nvSpPr>
        <p:spPr>
          <a:xfrm>
            <a:off x="5120635" y="1993411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50"/>
              <a:buFont typeface="Arial"/>
              <a:buNone/>
            </a:pPr>
            <a:r>
              <a:rPr b="1" i="0" lang="en-US" sz="1150" u="sng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abrir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777240" y="242316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Arial"/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280160" y="2404872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Como usar anexos e Google Drive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280160" y="2651760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850"/>
              <a:buFont typeface="Arial"/>
              <a:buNone/>
            </a:pPr>
            <a:r>
              <a:rPr b="0" i="0" lang="en-US" sz="115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Documentos, planilhas e materiais pedagógicos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>
            <a:hlinkClick r:id="rId5"/>
          </p:cNvPr>
          <p:cNvSpPr/>
          <p:nvPr/>
        </p:nvSpPr>
        <p:spPr>
          <a:xfrm>
            <a:off x="5120635" y="2633491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50"/>
              <a:buFont typeface="Arial"/>
              <a:buNone/>
            </a:pPr>
            <a:r>
              <a:rPr b="1" i="0" lang="en-US" sz="1150" u="sng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abrir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777240" y="306324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Arial"/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280160" y="3044952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Notebook LM - Introdução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280160" y="3291840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850"/>
              <a:buFont typeface="Arial"/>
              <a:buNone/>
            </a:pPr>
            <a:r>
              <a:rPr b="0" i="0" lang="en-US" sz="115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Organização de fontes e referências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>
            <a:hlinkClick r:id="rId7"/>
          </p:cNvPr>
          <p:cNvSpPr/>
          <p:nvPr/>
        </p:nvSpPr>
        <p:spPr>
          <a:xfrm>
            <a:off x="5120635" y="3273571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50"/>
              <a:buFont typeface="Arial"/>
              <a:buNone/>
            </a:pPr>
            <a:r>
              <a:rPr b="1" i="0" lang="en-US" sz="1150" u="sng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abrir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777240" y="370332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Arial"/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1280160" y="3685032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Notebook LM - Exemplos Práticos 1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1280160" y="3931920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850"/>
              <a:buFont typeface="Arial"/>
              <a:buNone/>
            </a:pPr>
            <a:r>
              <a:rPr b="0" i="0" lang="en-US" sz="115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Sínteses e documentos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>
            <a:hlinkClick r:id="rId9"/>
          </p:cNvPr>
          <p:cNvSpPr/>
          <p:nvPr/>
        </p:nvSpPr>
        <p:spPr>
          <a:xfrm>
            <a:off x="5120635" y="3913651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50"/>
              <a:buFont typeface="Arial"/>
              <a:buNone/>
            </a:pPr>
            <a:r>
              <a:rPr b="1" i="0" lang="en-US" sz="1150" u="sng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abrir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777240" y="4343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Arial"/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1280160" y="4325112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Notebook LM - Exemplos Práticos 2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280160" y="4572000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850"/>
              <a:buFont typeface="Arial"/>
              <a:buNone/>
            </a:pPr>
            <a:r>
              <a:rPr b="0" i="0" lang="en-US" sz="115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Relatórios e bases de conhecimento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>
            <a:hlinkClick r:id="rId11"/>
          </p:cNvPr>
          <p:cNvSpPr/>
          <p:nvPr/>
        </p:nvSpPr>
        <p:spPr>
          <a:xfrm>
            <a:off x="5120635" y="4553731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50"/>
              <a:buFont typeface="Arial"/>
              <a:buNone/>
            </a:pPr>
            <a:r>
              <a:rPr b="1" i="0" lang="en-US" sz="1150" u="sng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abrir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6400800" y="210312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Arial"/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6903720" y="2084832"/>
            <a:ext cx="4480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O mínimo de prompt que você precisa saber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903720" y="233172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850"/>
              <a:buFont typeface="Arial"/>
              <a:buNone/>
            </a:pPr>
            <a:r>
              <a:rPr b="0" i="0" lang="en-US" sz="115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Análises, relatórios e propostas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>
            <a:hlinkClick r:id="rId13"/>
          </p:cNvPr>
          <p:cNvSpPr/>
          <p:nvPr/>
        </p:nvSpPr>
        <p:spPr>
          <a:xfrm>
            <a:off x="10607040" y="2322576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50"/>
              <a:buFont typeface="Arial"/>
              <a:buNone/>
            </a:pPr>
            <a:r>
              <a:rPr b="1" i="0" lang="en-US" sz="1150" u="sng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abrir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400800" y="27432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Arial"/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6903720" y="2724912"/>
            <a:ext cx="4480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A incrível organização de chats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6903720" y="297180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850"/>
              <a:buFont typeface="Arial"/>
              <a:buNone/>
            </a:pPr>
            <a:r>
              <a:rPr b="0" i="0" lang="en-US" sz="115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Separar dashboard, startup, escolas e conteúdo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>
            <a:hlinkClick r:id="rId15"/>
          </p:cNvPr>
          <p:cNvSpPr/>
          <p:nvPr/>
        </p:nvSpPr>
        <p:spPr>
          <a:xfrm>
            <a:off x="10607040" y="2962656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50"/>
              <a:buFont typeface="Arial"/>
              <a:buNone/>
            </a:pPr>
            <a:r>
              <a:rPr b="1" i="0" lang="en-US" sz="1150" u="sng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abrir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40080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Arial"/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903720" y="3364992"/>
            <a:ext cx="4480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Time de agentes para redes sociais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6903720" y="361188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850"/>
              <a:buFont typeface="Arial"/>
              <a:buNone/>
            </a:pPr>
            <a:r>
              <a:rPr b="0" i="0" lang="en-US" sz="115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Conteúdo e geração de demanda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>
            <a:hlinkClick r:id="rId17"/>
          </p:cNvPr>
          <p:cNvSpPr/>
          <p:nvPr/>
        </p:nvSpPr>
        <p:spPr>
          <a:xfrm>
            <a:off x="10607040" y="3602736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50"/>
              <a:buFont typeface="Arial"/>
              <a:buNone/>
            </a:pPr>
            <a:r>
              <a:rPr b="1" i="0" lang="en-US" sz="1150" u="sng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abrir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 txBox="1"/>
          <p:nvPr>
            <p:ph idx="4294967295" type="sldNum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71717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PLANO DE AÇÃO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21792" y="713232"/>
            <a:ext cx="8778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Aulas para segunda etapa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p8"/>
          <p:cNvCxnSpPr/>
          <p:nvPr/>
        </p:nvCxnSpPr>
        <p:spPr>
          <a:xfrm>
            <a:off x="658368" y="1444752"/>
            <a:ext cx="1097280" cy="0"/>
          </a:xfrm>
          <a:prstGeom prst="straightConnector1">
            <a:avLst/>
          </a:prstGeom>
          <a:noFill/>
          <a:ln cap="flat" cmpd="sng" w="254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8"/>
          <p:cNvSpPr/>
          <p:nvPr/>
        </p:nvSpPr>
        <p:spPr>
          <a:xfrm>
            <a:off x="822960" y="187452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Arial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1325880" y="1856232"/>
            <a:ext cx="5166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3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Conselho Estratégico de IA - Introdução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1325880" y="2103120"/>
            <a:ext cx="4251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850"/>
              <a:buFont typeface="Arial"/>
              <a:buNone/>
            </a:pPr>
            <a:r>
              <a:rPr b="0" i="0" lang="en-US" sz="135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IA como apoio estratégico ao negócio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>
            <a:hlinkClick r:id="rId3"/>
          </p:cNvPr>
          <p:cNvSpPr/>
          <p:nvPr/>
        </p:nvSpPr>
        <p:spPr>
          <a:xfrm>
            <a:off x="5756450" y="1938426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50"/>
              <a:buFont typeface="Arial"/>
              <a:buNone/>
            </a:pPr>
            <a:r>
              <a:rPr b="1" i="0" lang="en-US" sz="1250" u="sng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abrir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822960" y="260604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Arial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1325880" y="2587752"/>
            <a:ext cx="5166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3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Conselho Estratégico de IA - Construção do Agente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325880" y="2834640"/>
            <a:ext cx="4251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850"/>
              <a:buFont typeface="Arial"/>
              <a:buNone/>
            </a:pPr>
            <a:r>
              <a:rPr b="0" i="0" lang="en-US" sz="135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Agente para dashboard, produto e comercial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>
            <a:hlinkClick r:id="rId5"/>
          </p:cNvPr>
          <p:cNvSpPr/>
          <p:nvPr/>
        </p:nvSpPr>
        <p:spPr>
          <a:xfrm>
            <a:off x="5756450" y="2669946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50"/>
              <a:buFont typeface="Arial"/>
              <a:buNone/>
            </a:pPr>
            <a:r>
              <a:rPr b="1" i="0" lang="en-US" sz="1250" u="sng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abrir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822960" y="333756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Arial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1325880" y="3319272"/>
            <a:ext cx="5166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3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Mapeamento inicial do aplicativo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1325880" y="3566160"/>
            <a:ext cx="4251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850"/>
              <a:buFont typeface="Arial"/>
              <a:buNone/>
            </a:pPr>
            <a:r>
              <a:rPr b="0" i="0" lang="en-US" sz="135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Desenhar dashboard ou miniapp antes de construir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>
            <a:hlinkClick r:id="rId7"/>
          </p:cNvPr>
          <p:cNvSpPr/>
          <p:nvPr/>
        </p:nvSpPr>
        <p:spPr>
          <a:xfrm>
            <a:off x="5756450" y="3401466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50"/>
              <a:buFont typeface="Arial"/>
              <a:buNone/>
            </a:pPr>
            <a:r>
              <a:rPr b="1" i="0" lang="en-US" sz="1250" u="sng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abrir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82296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Arial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1325880" y="4050792"/>
            <a:ext cx="5166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3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Frontend e Backend no Lovable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1325880" y="4297680"/>
            <a:ext cx="4251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850"/>
              <a:buFont typeface="Arial"/>
              <a:buNone/>
            </a:pPr>
            <a:r>
              <a:rPr b="0" i="0" lang="en-US" sz="135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Evoluir o dashboard para aplicação funcional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>
            <a:hlinkClick r:id="rId9"/>
          </p:cNvPr>
          <p:cNvSpPr/>
          <p:nvPr/>
        </p:nvSpPr>
        <p:spPr>
          <a:xfrm>
            <a:off x="5756450" y="4132986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50"/>
              <a:buFont typeface="Arial"/>
              <a:buNone/>
            </a:pPr>
            <a:r>
              <a:rPr b="1" i="0" lang="en-US" sz="1250" u="sng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abrir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6903720" y="224028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000"/>
              <a:buFont typeface="Play"/>
              <a:buNone/>
            </a:pPr>
            <a:r>
              <a:rPr b="1" i="0" lang="en-US" sz="20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Sequência recomendada: primeiro dashboard e dados; depois conteúdo, agentes e Lovable mais avançado.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6903720" y="370332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A ideia é evitar dispersão: poucas aulas, diretamente ligadas ao projeto vivo.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 txBox="1"/>
          <p:nvPr>
            <p:ph idx="4294967295" type="sldNum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71717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PLANO DE AÇÃO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621792" y="713232"/>
            <a:ext cx="8778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Recursos da plataforma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" name="Google Shape;203;p9"/>
          <p:cNvCxnSpPr/>
          <p:nvPr/>
        </p:nvCxnSpPr>
        <p:spPr>
          <a:xfrm>
            <a:off x="658368" y="1444752"/>
            <a:ext cx="1097280" cy="0"/>
          </a:xfrm>
          <a:prstGeom prst="straightConnector1">
            <a:avLst/>
          </a:prstGeom>
          <a:noFill/>
          <a:ln cap="flat" cmpd="sng" w="254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9"/>
          <p:cNvSpPr/>
          <p:nvPr/>
        </p:nvSpPr>
        <p:spPr>
          <a:xfrm>
            <a:off x="822960" y="1737360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1097280" y="1737360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Gestor de Métricas: base para dashboard, KPIs e relatórios.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822960" y="2212848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1097280" y="2212848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UI/UX Pro Max, Frontend Design e Brainstorming: clareza visual e definição de indicadores.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822960" y="2688336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1097280" y="2688336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Notion MCP: documentação, processos e materiais pedagógicos.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822960" y="3163824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1097280" y="3163824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Supabase MCP e Playwright MCP: estrutura de dados e testes, se virar aplicação.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822960" y="363931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1097280" y="3639312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Instagram OS e Eventos Expert Integrado: conteúdo, eventos, palestras e oportunidades.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>
            <a:hlinkClick r:id="rId3"/>
          </p:cNvPr>
          <p:cNvSpPr/>
          <p:nvPr/>
        </p:nvSpPr>
        <p:spPr>
          <a:xfrm>
            <a:off x="868672" y="5257800"/>
            <a:ext cx="289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Arial"/>
              <a:buNone/>
            </a:pPr>
            <a:r>
              <a:rPr b="1" i="0" lang="en-US" sz="2000" u="sng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Catálogo de Plugins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9">
            <a:hlinkClick r:id="rId5"/>
          </p:cNvPr>
          <p:cNvSpPr/>
          <p:nvPr/>
        </p:nvSpPr>
        <p:spPr>
          <a:xfrm>
            <a:off x="4096499" y="5257800"/>
            <a:ext cx="250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Arial"/>
              <a:buNone/>
            </a:pPr>
            <a:r>
              <a:rPr b="1" i="0" lang="en-US" sz="2000" u="sng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Catálogo Lovable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9"/>
          <p:cNvSpPr txBox="1"/>
          <p:nvPr>
            <p:ph idx="4294967295" type="sldNum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71717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"/>
          <p:cNvSpPr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PLANO DE AÇÃO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621792" y="713232"/>
            <a:ext cx="8778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Recorrências diárias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p10"/>
          <p:cNvCxnSpPr/>
          <p:nvPr/>
        </p:nvCxnSpPr>
        <p:spPr>
          <a:xfrm>
            <a:off x="658368" y="1444752"/>
            <a:ext cx="1097280" cy="0"/>
          </a:xfrm>
          <a:prstGeom prst="straightConnector1">
            <a:avLst/>
          </a:prstGeom>
          <a:noFill/>
          <a:ln cap="flat" cmpd="sng" w="254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10"/>
          <p:cNvSpPr/>
          <p:nvPr/>
        </p:nvSpPr>
        <p:spPr>
          <a:xfrm>
            <a:off x="822960" y="169164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Font typeface="Play"/>
              <a:buNone/>
            </a:pPr>
            <a:r>
              <a:rPr b="1" i="0" lang="en-US" sz="21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Usar as recorrências como ambiente de aceleração prática.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868680" y="2514600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1143000" y="2514600"/>
            <a:ext cx="9326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Levar dúvidas sobre estrutura do dashboard.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868680" y="2999232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1143000" y="2999232"/>
            <a:ext cx="9326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Validar indicadores, visualizações e base de dados.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868680" y="3483864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1143000" y="3483864"/>
            <a:ext cx="9326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Pedir orientação sobre Lovable, Gestor de Métricas e recursos visuais.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868680" y="3968496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1143000" y="3968496"/>
            <a:ext cx="9326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Destravar documentação, relatório e interpretação dos dados.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868680" y="4453128"/>
            <a:ext cx="137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1143000" y="4453128"/>
            <a:ext cx="9326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Alinhar próximos passos com o time.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"/>
          <p:cNvSpPr txBox="1"/>
          <p:nvPr>
            <p:ph idx="4294967295" type="sldNum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71717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/>
          <p:nvPr/>
        </p:nvSpPr>
        <p:spPr>
          <a:xfrm>
            <a:off x="658368" y="411480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PLANO DE AÇÃO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621792" y="713232"/>
            <a:ext cx="8778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Próximos passos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" name="Google Shape;244;p11"/>
          <p:cNvCxnSpPr/>
          <p:nvPr/>
        </p:nvCxnSpPr>
        <p:spPr>
          <a:xfrm>
            <a:off x="658368" y="1444752"/>
            <a:ext cx="1097280" cy="0"/>
          </a:xfrm>
          <a:prstGeom prst="straightConnector1">
            <a:avLst/>
          </a:prstGeom>
          <a:noFill/>
          <a:ln cap="flat" cmpd="sng" w="254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11"/>
          <p:cNvSpPr/>
          <p:nvPr/>
        </p:nvSpPr>
        <p:spPr>
          <a:xfrm>
            <a:off x="822960" y="187452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Arial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822960" y="2176272"/>
            <a:ext cx="2478024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Play"/>
              <a:buNone/>
            </a:pPr>
            <a:r>
              <a:rPr b="1" i="0" lang="en-US" sz="17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1. Acessar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822960" y="2587752"/>
            <a:ext cx="24780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950"/>
              <a:buFont typeface="Arial"/>
              <a:buNone/>
            </a:pPr>
            <a:r>
              <a:rPr b="0" i="0" lang="en-US" sz="145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Entrar no portal e abrir a trilha recomendada.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3502152" y="187452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Arial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3502152" y="2176272"/>
            <a:ext cx="2478024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Play"/>
              <a:buNone/>
            </a:pPr>
            <a:r>
              <a:rPr b="1" i="0" lang="en-US" sz="17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2. Listar dados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3502152" y="2587752"/>
            <a:ext cx="24780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950"/>
              <a:buFont typeface="Arial"/>
              <a:buNone/>
            </a:pPr>
            <a:r>
              <a:rPr b="0" i="0" lang="en-US" sz="145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Mapear o que já existe para o dashboard.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6181344" y="187452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Arial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6181344" y="2176272"/>
            <a:ext cx="2478024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Play"/>
              <a:buNone/>
            </a:pPr>
            <a:r>
              <a:rPr b="1" i="0" lang="en-US" sz="17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3. Validar KPIs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6181344" y="2587752"/>
            <a:ext cx="24780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950"/>
              <a:buFont typeface="Arial"/>
              <a:buNone/>
            </a:pPr>
            <a:r>
              <a:rPr b="0" i="0" lang="en-US" sz="145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Definir indicadores mínimos com apoio da mentoria.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8860536" y="187452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Arial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8860536" y="2176272"/>
            <a:ext cx="2478024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Play"/>
              <a:buNone/>
            </a:pPr>
            <a:r>
              <a:rPr b="1" i="0" lang="en-US" sz="17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4. Implementar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8860536" y="2587752"/>
            <a:ext cx="24780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950"/>
              <a:buFont typeface="Arial"/>
              <a:buNone/>
            </a:pPr>
            <a:r>
              <a:rPr b="0" i="0" lang="en-US" sz="145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Levar dúvidas para as recorrências e avançar em ciclos curtos.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868680" y="5166360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800"/>
              <a:buFont typeface="Play"/>
              <a:buNone/>
            </a:pPr>
            <a:r>
              <a:rPr b="1" i="0" lang="en-US" sz="1800" u="none" cap="none" strike="noStrike">
                <a:solidFill>
                  <a:srgbClr val="06B6D4"/>
                </a:solidFill>
                <a:latin typeface="Play"/>
                <a:ea typeface="Play"/>
                <a:cs typeface="Play"/>
                <a:sym typeface="Play"/>
              </a:rPr>
              <a:t>Foco inicial: dashboard pedagógico, relatório para escolas e organização dos dados.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1"/>
          <p:cNvSpPr txBox="1"/>
          <p:nvPr>
            <p:ph idx="4294967295" type="sldNum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71717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"/>
          <p:cNvSpPr/>
          <p:nvPr/>
        </p:nvSpPr>
        <p:spPr>
          <a:xfrm>
            <a:off x="822960" y="10058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4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F3F46"/>
                </a:solidFill>
                <a:latin typeface="Arial"/>
                <a:ea typeface="Arial"/>
                <a:cs typeface="Arial"/>
                <a:sym typeface="Arial"/>
              </a:rPr>
              <a:t>Expert Integrado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822960" y="2011680"/>
            <a:ext cx="77724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Font typeface="Play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Agora é transformar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Font typeface="Play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o dashboard em prova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Font typeface="Play"/>
              <a:buNone/>
            </a:pPr>
            <a:r>
              <a:rPr b="1" i="0" lang="en-US" sz="3600" u="none" cap="none" strike="noStrike">
                <a:solidFill>
                  <a:srgbClr val="FAFAFA"/>
                </a:solidFill>
                <a:latin typeface="Play"/>
                <a:ea typeface="Play"/>
                <a:cs typeface="Play"/>
                <a:sym typeface="Play"/>
              </a:rPr>
              <a:t>de valor.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" name="Google Shape;266;p12"/>
          <p:cNvCxnSpPr/>
          <p:nvPr/>
        </p:nvCxnSpPr>
        <p:spPr>
          <a:xfrm>
            <a:off x="868680" y="3886200"/>
            <a:ext cx="1097280" cy="0"/>
          </a:xfrm>
          <a:prstGeom prst="straightConnector1">
            <a:avLst/>
          </a:prstGeom>
          <a:noFill/>
          <a:ln cap="flat" cmpd="sng" w="317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p12"/>
          <p:cNvSpPr/>
          <p:nvPr/>
        </p:nvSpPr>
        <p:spPr>
          <a:xfrm>
            <a:off x="868680" y="425196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1A1A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A1A1AA"/>
                </a:solidFill>
                <a:latin typeface="Arial"/>
                <a:ea typeface="Arial"/>
                <a:cs typeface="Arial"/>
                <a:sym typeface="Arial"/>
              </a:rPr>
              <a:t>O primeiro ciclo da mentoria deve gerar clareza de dados, indicadores e relatório. Depois, o comercial ganha base para crescer com mais previsibilidade.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2"/>
          <p:cNvSpPr txBox="1"/>
          <p:nvPr>
            <p:ph idx="4294967295" type="sldNum"/>
          </p:nvPr>
        </p:nvSpPr>
        <p:spPr>
          <a:xfrm>
            <a:off x="1129284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50" u="none" cap="none" strike="noStrike">
                <a:solidFill>
                  <a:srgbClr val="71717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50" u="none" cap="none" strike="noStrike">
              <a:solidFill>
                <a:srgbClr val="71717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2026-05-13T21:20:52Z</dcterms:created>
  <dc:creator>Expert Integrado</dc:creator>
</cp:coreProperties>
</file>